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463040"/>
            <a:ext cx="9445752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828800"/>
            <a:ext cx="8869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FAFC"/>
                </a:solidFill>
              </a:defRPr>
            </a:pPr>
            <a:r>
              <a:t>PROJECT ATLAS</a:t>
            </a:r>
          </a:p>
          <a:p>
            <a:pPr algn="ctr">
              <a:spcBef>
                <a:spcPts val="1200"/>
              </a:spcBef>
              <a:defRPr sz="2200" b="1">
                <a:solidFill>
                  <a:srgbClr val="0EA5E9"/>
                </a:solidFill>
              </a:defRPr>
            </a:pPr>
            <a:r>
              <a:t>The Universal Web Autopilot — Dual-Speed Cognitive Agent</a:t>
            </a:r>
          </a:p>
          <a:p>
            <a:pPr algn="ctr">
              <a:spcBef>
                <a:spcPts val="1600"/>
              </a:spcBef>
              <a:defRPr sz="1400">
                <a:solidFill>
                  <a:srgbClr val="94A3B8"/>
                </a:solidFill>
              </a:defRPr>
            </a:pPr>
            <a:r>
              <a:t>Sub-100ms Reflexes • Zero-Knowledge Cryptographic Vault • 100% WCAG 2.2 AAA Accessibility</a:t>
            </a:r>
          </a:p>
          <a:p>
            <a:pPr algn="ctr">
              <a:spcBef>
                <a:spcPts val="2400"/>
              </a:spcBef>
              <a:defRPr sz="1200">
                <a:solidFill>
                  <a:srgbClr val="10B981"/>
                </a:solidFill>
              </a:defRPr>
            </a:pPr>
            <a:r>
              <a:t>Hackathon Finals Presentation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THE INDUSTRY DILEMMA</a:t>
            </a:r>
          </a:p>
          <a:p>
            <a:pPr>
              <a:spcBef>
                <a:spcPts val="400"/>
              </a:spcBef>
              <a:defRPr sz="2800" b="1">
                <a:solidFill>
                  <a:srgbClr val="F8FAFC"/>
                </a:solidFill>
              </a:defRPr>
            </a:pPr>
            <a:r>
              <a:t>Why Modern Web Agents Keep Breaking in Production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Today's browser assistants are brittle, agonizingly slow, and leak enterprise secrets.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CURRENT BROWSER AGENTS</a:t>
            </a:r>
          </a:p>
          <a:p>
            <a:pPr>
              <a:spcBef>
                <a:spcPts val="1200"/>
              </a:spcBef>
              <a:defRPr b="1" sz="1200">
                <a:solidFill>
                  <a:srgbClr val="F8FAFC"/>
                </a:solidFill>
              </a:defRPr>
            </a:pPr>
            <a:r>
              <a:t>✖ Fragile Selectors: </a:t>
            </a:r>
            <a:r>
              <a:rPr b="0">
                <a:solidFill>
                  <a:srgbClr val="94A3B8"/>
                </a:solidFill>
              </a:rPr>
              <a:t>Break constantly when React/Vue re-renders DOM or shifts CSS classes.</a:t>
            </a:r>
          </a:p>
          <a:p>
            <a:pPr>
              <a:spcBef>
                <a:spcPts val="1200"/>
              </a:spcBef>
              <a:defRPr b="1" sz="1200">
                <a:solidFill>
                  <a:srgbClr val="F8FAFC"/>
                </a:solidFill>
              </a:defRPr>
            </a:pPr>
            <a:r>
              <a:t>✖ Multi-Second Cloud Latency: </a:t>
            </a:r>
            <a:r>
              <a:rPr b="0">
                <a:solidFill>
                  <a:srgbClr val="94A3B8"/>
                </a:solidFill>
              </a:rPr>
              <a:t>3,500ms+ per action step causes jarring freeze-ups and thundering-herd timeouts.</a:t>
            </a:r>
          </a:p>
          <a:p>
            <a:pPr>
              <a:spcBef>
                <a:spcPts val="1200"/>
              </a:spcBef>
              <a:defRPr b="1" sz="1200">
                <a:solidFill>
                  <a:srgbClr val="F8FAFC"/>
                </a:solidFill>
              </a:defRPr>
            </a:pPr>
            <a:r>
              <a:t>✖ Catastrophic Data Leakage: </a:t>
            </a:r>
            <a:r>
              <a:rPr b="0">
                <a:solidFill>
                  <a:srgbClr val="94A3B8"/>
                </a:solidFill>
              </a:rPr>
              <a:t>Raw passwords, patient IDs, and credit cards sent unencrypted to cloud LLMs.</a:t>
            </a:r>
          </a:p>
          <a:p>
            <a:pPr>
              <a:spcBef>
                <a:spcPts val="1200"/>
              </a:spcBef>
              <a:defRPr b="1" sz="1200">
                <a:solidFill>
                  <a:srgbClr val="F8FAFC"/>
                </a:solidFill>
              </a:defRPr>
            </a:pPr>
            <a:r>
              <a:t>✖ Accessibility Failure: </a:t>
            </a:r>
            <a:r>
              <a:rPr b="0">
                <a:solidFill>
                  <a:srgbClr val="94A3B8"/>
                </a:solidFill>
              </a:rPr>
              <a:t>Ignore screen-readers, lack visible focus states, and violate WCAG compliance.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01168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THE PROJECT ATLAS STANDARD</a:t>
            </a:r>
          </a:p>
          <a:p>
            <a:pPr>
              <a:spcBef>
                <a:spcPts val="1200"/>
              </a:spcBef>
              <a:defRPr b="1" sz="1200">
                <a:solidFill>
                  <a:srgbClr val="F8FAFC"/>
                </a:solidFill>
              </a:defRPr>
            </a:pPr>
            <a:r>
              <a:t>✔ 64-Bit FNV-1a Semantic Fingerprints: </a:t>
            </a:r>
            <a:r>
              <a:rPr b="0">
                <a:solidFill>
                  <a:srgbClr val="94A3B8"/>
                </a:solidFill>
              </a:rPr>
              <a:t>Addresses elements by structural semantics and accessibility trees, not fragile DOM paths.</a:t>
            </a:r>
          </a:p>
          <a:p>
            <a:pPr>
              <a:spcBef>
                <a:spcPts val="1200"/>
              </a:spcBef>
              <a:defRPr b="1" sz="1200">
                <a:solidFill>
                  <a:srgbClr val="F8FAFC"/>
                </a:solidFill>
              </a:defRPr>
            </a:pPr>
            <a:r>
              <a:t>✔ Dual-Speed Reflex Engine: </a:t>
            </a:r>
            <a:r>
              <a:rPr b="0">
                <a:solidFill>
                  <a:srgbClr val="94A3B8"/>
                </a:solidFill>
              </a:rPr>
              <a:t>System 1 evaluates micro-actions in &lt;80ms; System 2 plans high-level goals.</a:t>
            </a:r>
          </a:p>
          <a:p>
            <a:pPr>
              <a:spcBef>
                <a:spcPts val="1200"/>
              </a:spcBef>
              <a:defRPr b="1" sz="1200">
                <a:solidFill>
                  <a:srgbClr val="F8FAFC"/>
                </a:solidFill>
              </a:defRPr>
            </a:pPr>
            <a:r>
              <a:t>✔ Client-Side Web Crypto Vault: </a:t>
            </a:r>
            <a:r>
              <a:rPr b="0">
                <a:solidFill>
                  <a:srgbClr val="94A3B8"/>
                </a:solidFill>
              </a:rPr>
              <a:t>AES-GCM encrypted zero-knowledge storage; credentials never leave client un-tokenized.</a:t>
            </a:r>
          </a:p>
          <a:p>
            <a:pPr>
              <a:spcBef>
                <a:spcPts val="1200"/>
              </a:spcBef>
              <a:defRPr b="1" sz="1200">
                <a:solidFill>
                  <a:srgbClr val="F8FAFC"/>
                </a:solidFill>
              </a:defRPr>
            </a:pPr>
            <a:r>
              <a:t>✔ WCAG 2.2 AAA by Design: </a:t>
            </a:r>
            <a:r>
              <a:rPr b="0">
                <a:solidFill>
                  <a:srgbClr val="94A3B8"/>
                </a:solidFill>
              </a:rPr>
              <a:t>Built-in voice in/out, high-contrast outlines, screen-reader live regions, and notch 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MARKET URGENCY &amp; OPPORTUNITY</a:t>
            </a:r>
          </a:p>
          <a:p>
            <a:pPr>
              <a:spcBef>
                <a:spcPts val="400"/>
              </a:spcBef>
              <a:defRPr sz="2800" b="1">
                <a:solidFill>
                  <a:srgbClr val="F8FAFC"/>
                </a:solidFill>
              </a:defRPr>
            </a:pPr>
            <a:r>
              <a:t>Massive Commercial TAM Driven by Accessibility &amp; Automation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The convergence of assistive web compliance and autonomous workforce efficiency.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EA5E9"/>
                </a:solidFill>
              </a:defRPr>
            </a:pPr>
            <a:r>
              <a:t>1.3 BILLION</a:t>
            </a:r>
          </a:p>
          <a:p>
            <a:pPr algn="ctr">
              <a:spcBef>
                <a:spcPts val="2000"/>
              </a:spcBef>
              <a:defRPr sz="1400">
                <a:solidFill>
                  <a:srgbClr val="F8FAFC"/>
                </a:solidFill>
              </a:defRPr>
            </a:pPr>
            <a:r>
              <a:t>Global population living with significant disabilities who face exclusionary web barriers daily.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291840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EA5E9"/>
                </a:solidFill>
              </a:defRPr>
            </a:pPr>
            <a:r>
              <a:t>42% ABANDON</a:t>
            </a:r>
          </a:p>
          <a:p>
            <a:pPr algn="ctr">
              <a:spcBef>
                <a:spcPts val="2000"/>
              </a:spcBef>
              <a:defRPr sz="1400">
                <a:solidFill>
                  <a:srgbClr val="F8FAFC"/>
                </a:solidFill>
              </a:defRPr>
            </a:pPr>
            <a:r>
              <a:t>Average drop-off rate on multi-step enterprise workflows (insurance, healthcare, banking).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291840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28600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EA5E9"/>
                </a:solidFill>
              </a:defRPr>
            </a:pPr>
            <a:r>
              <a:t>$13.5 BILLION</a:t>
            </a:r>
          </a:p>
          <a:p>
            <a:pPr algn="ctr">
              <a:spcBef>
                <a:spcPts val="2000"/>
              </a:spcBef>
              <a:defRPr sz="1400">
                <a:solidFill>
                  <a:srgbClr val="F8FAFC"/>
                </a:solidFill>
              </a:defRPr>
            </a:pPr>
            <a:r>
              <a:t>Total addressable annual market for enterprise assistive agents and automated web workflows.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SYSTEM ARCHITECTURE</a:t>
            </a:r>
          </a:p>
          <a:p>
            <a:pPr>
              <a:spcBef>
                <a:spcPts val="400"/>
              </a:spcBef>
              <a:defRPr sz="2800" b="1">
                <a:solidFill>
                  <a:srgbClr val="F8FAFC"/>
                </a:solidFill>
              </a:defRPr>
            </a:pPr>
            <a:r>
              <a:t>Dual-Speed Cognitive Engine &amp; Zero-Trust Client Vault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Decoupling ultrafast sub-100ms micro-decisions from high-level reasoning and planning.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</a:defRPr>
            </a:pPr>
            <a:r>
              <a:t>HOW ATLAS OPERATES</a:t>
            </a:r>
          </a:p>
          <a:p>
            <a:pPr>
              <a:spcBef>
                <a:spcPts val="1000"/>
              </a:spcBef>
              <a:defRPr b="1" sz="1300">
                <a:solidFill>
                  <a:srgbClr val="F8FAFC"/>
                </a:solidFill>
              </a:defRPr>
            </a:pPr>
            <a:r>
              <a:t>1. Perceive: </a:t>
            </a:r>
            <a:r>
              <a:rPr b="0">
                <a:solidFill>
                  <a:srgbClr val="94A3B8"/>
                </a:solidFill>
              </a:rPr>
              <a:t>DOM Serializer parses accessibility trees and emits stable 64-bit FNV-1a hashes in &lt;16ms.</a:t>
            </a:r>
          </a:p>
          <a:p>
            <a:pPr>
              <a:spcBef>
                <a:spcPts val="1000"/>
              </a:spcBef>
              <a:defRPr b="1" sz="1300">
                <a:solidFill>
                  <a:srgbClr val="F8FAFC"/>
                </a:solidFill>
              </a:defRPr>
            </a:pPr>
            <a:r>
              <a:t>2. System 1 Reflex: </a:t>
            </a:r>
            <a:r>
              <a:rPr b="0">
                <a:solidFill>
                  <a:srgbClr val="94A3B8"/>
                </a:solidFill>
              </a:rPr>
              <a:t>TypeSafe Jev 3 evaluates micro-actions in &lt;80ms without cloud roundtrips.</a:t>
            </a:r>
          </a:p>
          <a:p>
            <a:pPr>
              <a:spcBef>
                <a:spcPts val="1000"/>
              </a:spcBef>
              <a:defRPr b="1" sz="1300">
                <a:solidFill>
                  <a:srgbClr val="F8FAFC"/>
                </a:solidFill>
              </a:defRPr>
            </a:pPr>
            <a:r>
              <a:t>3. System 2 Reason: </a:t>
            </a:r>
            <a:r>
              <a:rPr b="0">
                <a:solidFill>
                  <a:srgbClr val="94A3B8"/>
                </a:solidFill>
              </a:rPr>
              <a:t>Llama 3.3 / GPT reasoners decompose complex multi-hop goals into milestones.</a:t>
            </a:r>
          </a:p>
          <a:p>
            <a:pPr>
              <a:spcBef>
                <a:spcPts val="1000"/>
              </a:spcBef>
              <a:defRPr b="1" sz="1300">
                <a:solidFill>
                  <a:srgbClr val="F8FAFC"/>
                </a:solidFill>
              </a:defRPr>
            </a:pPr>
            <a:r>
              <a:t>4. Zero-Trust Vault: </a:t>
            </a:r>
            <a:r>
              <a:rPr b="0">
                <a:solidFill>
                  <a:srgbClr val="94A3B8"/>
                </a:solidFill>
              </a:rPr>
              <a:t>Client-side Web Crypto AES-GCM tokenizes credentials before transmission.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01168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DUAL-SPEED BENCHMARK</a:t>
            </a:r>
          </a:p>
          <a:p>
            <a:pPr>
              <a:spcBef>
                <a:spcPts val="1000"/>
              </a:spcBef>
              <a:defRPr b="1" sz="1300">
                <a:solidFill>
                  <a:srgbClr val="F8FAFC"/>
                </a:solidFill>
              </a:defRPr>
            </a:pPr>
            <a:r>
              <a:t>• Action Latency:</a:t>
            </a:r>
            <a:r>
              <a:rPr b="0">
                <a:solidFill>
                  <a:srgbClr val="0EA5E9"/>
                </a:solidFill>
              </a:rPr>
              <a:t>
  Atlas: ~75ms  |  Standard LLM Agent: ~3,800ms (50x Faster)</a:t>
            </a:r>
          </a:p>
          <a:p>
            <a:pPr>
              <a:spcBef>
                <a:spcPts val="1000"/>
              </a:spcBef>
              <a:defRPr b="1" sz="1300">
                <a:solidFill>
                  <a:srgbClr val="F8FAFC"/>
                </a:solidFill>
              </a:defRPr>
            </a:pPr>
            <a:r>
              <a:t>• Token Efficiency:</a:t>
            </a:r>
            <a:r>
              <a:rPr b="0">
                <a:solidFill>
                  <a:srgbClr val="0EA5E9"/>
                </a:solidFill>
              </a:rPr>
              <a:t>
  Compact budget serializer cuts DOM token consumption by 82%</a:t>
            </a:r>
          </a:p>
          <a:p>
            <a:pPr>
              <a:spcBef>
                <a:spcPts val="1000"/>
              </a:spcBef>
              <a:defRPr b="1" sz="1300">
                <a:solidFill>
                  <a:srgbClr val="F8FAFC"/>
                </a:solidFill>
              </a:defRPr>
            </a:pPr>
            <a:r>
              <a:t>• Secret Storage:</a:t>
            </a:r>
            <a:r>
              <a:rPr b="0">
                <a:solidFill>
                  <a:srgbClr val="0EA5E9"/>
                </a:solidFill>
              </a:rPr>
              <a:t>
  AES-256-GCM in IndexedDB (Client-only, non-exportable key)</a:t>
            </a:r>
          </a:p>
          <a:p>
            <a:pPr>
              <a:spcBef>
                <a:spcPts val="1000"/>
              </a:spcBef>
              <a:defRPr b="1" sz="1300">
                <a:solidFill>
                  <a:srgbClr val="F8FAFC"/>
                </a:solidFill>
              </a:defRPr>
            </a:pPr>
            <a:r>
              <a:t>• Resilience Quorum:</a:t>
            </a:r>
            <a:r>
              <a:rPr b="0">
                <a:solidFill>
                  <a:srgbClr val="0EA5E9"/>
                </a:solidFill>
              </a:rPr>
              <a:t>
  Automated 429 backoff, semaphore throttling &amp; speculative cancellation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END-TO-END EXECUTION</a:t>
            </a:r>
          </a:p>
          <a:p>
            <a:pPr>
              <a:spcBef>
                <a:spcPts val="400"/>
              </a:spcBef>
              <a:defRPr sz="2800" b="1">
                <a:solidFill>
                  <a:srgbClr val="F8FAFC"/>
                </a:solidFill>
              </a:defRPr>
            </a:pPr>
            <a:r>
              <a:t>Autonomous Multi-Hop Flow Rail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Live Scenario: 'Sign up for university portal, complete medical triage, and download timetable.'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246888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STAGE 01</a:t>
            </a:r>
          </a:p>
          <a:p>
            <a:pPr>
              <a:spcBef>
                <a:spcPts val="800"/>
              </a:spcBef>
              <a:defRPr sz="1500" b="1">
                <a:solidFill>
                  <a:srgbClr val="F8FAFC"/>
                </a:solidFill>
              </a:defRPr>
            </a:pPr>
            <a:r>
              <a:t>1. Page Classification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Scout identifies form structure and classifies page semantics in &lt;40ms.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103120"/>
            <a:ext cx="246888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228600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STAGE 02</a:t>
            </a:r>
          </a:p>
          <a:p>
            <a:pPr>
              <a:spcBef>
                <a:spcPts val="800"/>
              </a:spcBef>
              <a:defRPr sz="1500" b="1">
                <a:solidFill>
                  <a:srgbClr val="F8FAFC"/>
                </a:solidFill>
              </a:defRPr>
            </a:pPr>
            <a:r>
              <a:t>2. Tokenized Autofill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Vault injects {profile.email} and {password} without plaintext leaks.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246888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28600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STAGE 03</a:t>
            </a:r>
          </a:p>
          <a:p>
            <a:pPr>
              <a:spcBef>
                <a:spcPts val="800"/>
              </a:spcBef>
              <a:defRPr sz="1500" b="1">
                <a:solidFill>
                  <a:srgbClr val="F8FAFC"/>
                </a:solidFill>
              </a:defRPr>
            </a:pPr>
            <a:r>
              <a:t>3. Human-in-Loop Gate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Accessible confirmation modal halts execution for user sign-off.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2103120"/>
            <a:ext cx="246888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228600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STAGE 04</a:t>
            </a:r>
          </a:p>
          <a:p>
            <a:pPr>
              <a:spcBef>
                <a:spcPts val="800"/>
              </a:spcBef>
              <a:defRPr sz="1500" b="1">
                <a:solidFill>
                  <a:srgbClr val="F8FAFC"/>
                </a:solidFill>
              </a:defRPr>
            </a:pPr>
            <a:r>
              <a:t>4. File Download &amp; Verify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Executor clicks timetable download and verifier quorum confirms delivery.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COMPETITIVE LANDSCAPE</a:t>
            </a:r>
          </a:p>
          <a:p>
            <a:pPr>
              <a:spcBef>
                <a:spcPts val="400"/>
              </a:spcBef>
              <a:defRPr sz="2800" b="1">
                <a:solidFill>
                  <a:srgbClr val="F8FAFC"/>
                </a:solidFill>
              </a:defRPr>
            </a:pPr>
            <a:r>
              <a:t>The Unfair Advantage: Speed + Zero-Trust Privacy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Where Project Atlas sits compared to OpenAI Operator, Anthropic Computer Use, and Puppeteer.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</a:defRPr>
            </a:pPr>
            <a:r>
              <a:t>COMPETITIVE BENCHMARK MATRIX</a:t>
            </a:r>
          </a:p>
          <a:p>
            <a:pPr>
              <a:spcBef>
                <a:spcPts val="1200"/>
              </a:spcBef>
              <a:defRPr b="1" sz="1300">
                <a:solidFill>
                  <a:srgbClr val="F8FAFC"/>
                </a:solidFill>
              </a:defRPr>
            </a:pPr>
            <a:r>
              <a:t>• OpenAI Operator / Anthropic: </a:t>
            </a:r>
            <a:r>
              <a:rPr b="0">
                <a:solidFill>
                  <a:srgbClr val="94A3B8"/>
                </a:solidFill>
              </a:rPr>
              <a:t>High reasoning capability, but 4,000ms latency, high cost, and zero client privacy vault.</a:t>
            </a:r>
          </a:p>
          <a:p>
            <a:pPr>
              <a:spcBef>
                <a:spcPts val="1200"/>
              </a:spcBef>
              <a:defRPr b="1" sz="1300">
                <a:solidFill>
                  <a:srgbClr val="F8FAFC"/>
                </a:solidFill>
              </a:defRPr>
            </a:pPr>
            <a:r>
              <a:t>• Raw Puppeteer / Selenium: </a:t>
            </a:r>
            <a:r>
              <a:rPr b="0">
                <a:solidFill>
                  <a:srgbClr val="94A3B8"/>
                </a:solidFill>
              </a:rPr>
              <a:t>Fast execution, but brittle CSS selectors, zero AI adaptation, and breaks on layout shifts.</a:t>
            </a:r>
          </a:p>
          <a:p>
            <a:pPr>
              <a:spcBef>
                <a:spcPts val="1200"/>
              </a:spcBef>
              <a:defRPr b="1" sz="1300">
                <a:solidFill>
                  <a:srgbClr val="F8FAFC"/>
                </a:solidFill>
              </a:defRPr>
            </a:pPr>
            <a:r>
              <a:t>• Traditional Screen Readers: </a:t>
            </a:r>
            <a:r>
              <a:rPr b="0">
                <a:solidFill>
                  <a:srgbClr val="94A3B8"/>
                </a:solidFill>
              </a:rPr>
              <a:t>Provides auditory output, but requires tedious manual keyboard stepping with zero autonomy.</a:t>
            </a:r>
          </a:p>
          <a:p>
            <a:pPr>
              <a:spcBef>
                <a:spcPts val="1200"/>
              </a:spcBef>
              <a:defRPr b="1" sz="1300">
                <a:solidFill>
                  <a:srgbClr val="10B981"/>
                </a:solidFill>
              </a:defRPr>
            </a:pPr>
            <a:r>
              <a:t>• Project Atlas (The Sweet Spot): </a:t>
            </a:r>
            <a:r>
              <a:rPr b="0">
                <a:solidFill>
                  <a:srgbClr val="94A3B8"/>
                </a:solidFill>
              </a:rPr>
              <a:t>Sub-100ms reflex speed + System 2 planning + Web Crypto zero-knowledge vault + WCAG 2.2 AAA.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TECHNICAL RIGOR &amp; VERIFICATION</a:t>
            </a:r>
          </a:p>
          <a:p>
            <a:pPr>
              <a:spcBef>
                <a:spcPts val="400"/>
              </a:spcBef>
              <a:defRPr sz="2800" b="1">
                <a:solidFill>
                  <a:srgbClr val="F8FAFC"/>
                </a:solidFill>
              </a:defRPr>
            </a:pPr>
            <a:r>
              <a:t>Tested for Extreme Production Environments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A fully green test pyramid backed by deterministic replay harnesses.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SECURITY &amp; PRIVACY</a:t>
            </a:r>
          </a:p>
          <a:p>
            <a:pPr>
              <a:spcBef>
                <a:spcPts val="1600"/>
              </a:spcBef>
              <a:defRPr sz="1300">
                <a:solidFill>
                  <a:srgbClr val="F8FAFC"/>
                </a:solidFill>
              </a:defRPr>
            </a:pPr>
            <a:r>
              <a:t>• Web Crypto AES-GCM vault</a:t>
            </a:r>
            <a:br/>
            <a:r>
              <a:t>• Zero plaintext secret leaks</a:t>
            </a:r>
            <a:br/>
            <a:r>
              <a:t>• Strict Manifest V3 CSP</a:t>
            </a:r>
            <a:br/>
            <a:r>
              <a:t>• Isolated Closed Shadow DOM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AUTOMATED TEST PYRAMID</a:t>
            </a:r>
          </a:p>
          <a:p>
            <a:pPr>
              <a:spcBef>
                <a:spcPts val="1600"/>
              </a:spcBef>
              <a:defRPr sz="1300">
                <a:solidFill>
                  <a:srgbClr val="F8FAFC"/>
                </a:solidFill>
              </a:defRPr>
            </a:pPr>
            <a:r>
              <a:t>• 477+ backend pytest suite</a:t>
            </a:r>
            <a:br/>
            <a:r>
              <a:t>• Deterministic replay runner</a:t>
            </a:r>
            <a:br/>
            <a:r>
              <a:t>• Playwright E2E browser harness</a:t>
            </a:r>
            <a:br/>
            <a:r>
              <a:t>• 100% green pass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ENTERPRISE RESILIENCE</a:t>
            </a:r>
          </a:p>
          <a:p>
            <a:pPr>
              <a:spcBef>
                <a:spcPts val="1600"/>
              </a:spcBef>
              <a:defRPr sz="1300">
                <a:solidFill>
                  <a:srgbClr val="F8FAFC"/>
                </a:solidFill>
              </a:defRPr>
            </a:pPr>
            <a:r>
              <a:t>• Concurrency semaphores</a:t>
            </a:r>
            <a:br/>
            <a:r>
              <a:t>• Automatic 429 backoff &amp; retry</a:t>
            </a:r>
            <a:br/>
            <a:r>
              <a:t>• Speculative task cancellation</a:t>
            </a:r>
            <a:br/>
            <a:r>
              <a:t>• Arabic/Unicode localization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ACCESSIBILITY SUPREMACY</a:t>
            </a:r>
          </a:p>
          <a:p>
            <a:pPr>
              <a:spcBef>
                <a:spcPts val="400"/>
              </a:spcBef>
              <a:defRPr sz="2800" b="1">
                <a:solidFill>
                  <a:srgbClr val="F8FAFC"/>
                </a:solidFill>
              </a:defRPr>
            </a:pPr>
            <a:r>
              <a:t>Built for Universal Independence (WCAG 2.2 AAA)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Accessibility is the core architectural foundation of Atlas, not an afterthought.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</a:defRPr>
            </a:pPr>
            <a:r>
              <a:t>ACCESSIBILITY FEATURES BUILT INTO EVERY HOP</a:t>
            </a:r>
          </a:p>
          <a:p>
            <a:pPr>
              <a:spcBef>
                <a:spcPts val="1200"/>
              </a:spcBef>
              <a:defRPr b="1" sz="1300">
                <a:solidFill>
                  <a:srgbClr val="F8FAFC"/>
                </a:solidFill>
              </a:defRPr>
            </a:pPr>
            <a:r>
              <a:t>✔ Multimodal Speech Engine: </a:t>
            </a:r>
            <a:r>
              <a:rPr b="0">
                <a:solidFill>
                  <a:srgbClr val="94A3B8"/>
                </a:solidFill>
              </a:rPr>
              <a:t>Bidirectional voice in/out powered by Web Speech API and streaming TTS synthesis.</a:t>
            </a:r>
          </a:p>
          <a:p>
            <a:pPr>
              <a:spcBef>
                <a:spcPts val="1200"/>
              </a:spcBef>
              <a:defRPr b="1" sz="1300">
                <a:solidFill>
                  <a:srgbClr val="F8FAFC"/>
                </a:solidFill>
              </a:defRPr>
            </a:pPr>
            <a:r>
              <a:t>✔ AAA Color Contrast &amp; Focus Outlines: </a:t>
            </a:r>
            <a:r>
              <a:rPr b="0">
                <a:solidFill>
                  <a:srgbClr val="94A3B8"/>
                </a:solidFill>
              </a:rPr>
              <a:t>High-contrast visual targets (&gt;7:1 ratio) with persistent visible focus rings.</a:t>
            </a:r>
          </a:p>
          <a:p>
            <a:pPr>
              <a:spcBef>
                <a:spcPts val="1200"/>
              </a:spcBef>
              <a:defRPr b="1" sz="1300">
                <a:solidFill>
                  <a:srgbClr val="F8FAFC"/>
                </a:solidFill>
              </a:defRPr>
            </a:pPr>
            <a:r>
              <a:t>✔ Draggable Floating Notch UI: </a:t>
            </a:r>
            <a:r>
              <a:rPr b="0">
                <a:solidFill>
                  <a:srgbClr val="94A3B8"/>
                </a:solidFill>
              </a:rPr>
              <a:t>Non-intrusive floating pill with pointer capture and Euclidean click discrimination.</a:t>
            </a:r>
          </a:p>
          <a:p>
            <a:pPr>
              <a:spcBef>
                <a:spcPts val="1200"/>
              </a:spcBef>
              <a:defRPr b="1" sz="1300">
                <a:solidFill>
                  <a:srgbClr val="F8FAFC"/>
                </a:solidFill>
              </a:defRPr>
            </a:pPr>
            <a:r>
              <a:t>✔ Screen-Reader ARIA Live Regions: </a:t>
            </a:r>
            <a:r>
              <a:rPr b="0">
                <a:solidFill>
                  <a:srgbClr val="94A3B8"/>
                </a:solidFill>
              </a:rPr>
              <a:t>Real-time step updates announced without disrupting native host page navigation.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COMMERCIALIZATION &amp; GROWTH</a:t>
            </a:r>
          </a:p>
          <a:p>
            <a:pPr>
              <a:spcBef>
                <a:spcPts val="400"/>
              </a:spcBef>
              <a:defRPr sz="2800" b="1">
                <a:solidFill>
                  <a:srgbClr val="F8FAFC"/>
                </a:solidFill>
              </a:defRPr>
            </a:pPr>
            <a:r>
              <a:t>Dual-Engine Revenue Strategy (B2C + Enterprise B2B)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Capturing both consumer assistive demand and enterprise back-office automation budgets.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</a:defRPr>
            </a:pPr>
            <a:r>
              <a:t>B2C ASSISTIVE FREEMIUM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Free Tier: Unlimited voice &amp; keyboard navigation on all standard websites.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Pro Tier ($9/mo): Multi-hop autonomous workflows, priority cloud reasoning, and encrypted profile syncing.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Channel: Direct Chrome Web Store installation with 1-click onboarding.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01168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B2B ENTERPRISE WORKFORCE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Per-Seat License ($39/seat/mo): Automated data entry into legacy ERPs, CRMs, and EHR health portals.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Zero-Knowledge Guarantee: Critical for healthcare (HIPAA), banking (SOC-2), and government compliance.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Deployment: Dockerized on-premise container stack with tenant audit logging.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463040"/>
            <a:ext cx="9445752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828800"/>
            <a:ext cx="8869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8FAFC"/>
                </a:solidFill>
              </a:defRPr>
            </a:pPr>
            <a:r>
              <a:t>"The future of the web isn't typing and clicking.</a:t>
            </a:r>
            <a:br/>
            <a:r>
              <a:t>It's asking and arriving."</a:t>
            </a:r>
          </a:p>
          <a:p>
            <a:pPr algn="ctr">
              <a:spcBef>
                <a:spcPts val="2000"/>
              </a:spcBef>
              <a:defRPr sz="2000" b="1">
                <a:solidFill>
                  <a:srgbClr val="10B981"/>
                </a:solidFill>
              </a:defRPr>
            </a:pPr>
            <a:r>
              <a:t>WELCOME TO PROJECT ATLAS</a:t>
            </a:r>
          </a:p>
          <a:p>
            <a:pPr algn="ctr">
              <a:spcBef>
                <a:spcPts val="1600"/>
              </a:spcBef>
              <a:defRPr sz="1400">
                <a:solidFill>
                  <a:srgbClr val="94A3B8"/>
                </a:solidFill>
              </a:defRPr>
            </a:pPr>
            <a:r>
              <a:t>Live Demo: http://localhost:5500  |  GitHub: Abdelrahman-Aboelnour06/Project-Atlas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